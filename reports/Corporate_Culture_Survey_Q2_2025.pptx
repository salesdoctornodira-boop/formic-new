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Corporate Culture Survey Q2 2025 yakuniy natijalari.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D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291840" cy="3291840"/>
          </a:xfrm>
          <a:prstGeom prst="oval">
            <a:avLst/>
          </a:prstGeom>
          <a:ln w="17780">
            <a:solidFill>
              <a:srgbClr val="2E7D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98480" y="4480560"/>
            <a:ext cx="2560320" cy="2560320"/>
          </a:xfrm>
          <a:prstGeom prst="oval">
            <a:avLst/>
          </a:prstGeom>
          <a:ln w="15240">
            <a:solidFill>
              <a:srgbClr val="2E7D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0" y="1554480"/>
            <a:ext cx="457200" cy="457200"/>
          </a:xfrm>
          <a:prstGeom prst="oval">
            <a:avLst/>
          </a:prstGeom>
          <a:solidFill>
            <a:srgbClr val="3FA76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777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00" kern="0" dirty="0">
                <a:solidFill>
                  <a:srgbClr val="8FD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DOCTOR GROUP  ·  CORPORATE CULTURE SURVEY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Culture Survey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13232" y="25420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6FE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2025</a:t>
            </a:r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CF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Yakuniy natijalar hisoboti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13232" y="324612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BFE0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Ishtirok oshdi, ovoz sifati va umumiy Corporate Culture Score sezilarli darajada yaxshilandi.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3429000" cy="1600200"/>
          </a:xfrm>
          <a:prstGeom prst="roundRect">
            <a:avLst>
              <a:gd name="adj" fmla="val 685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3FA7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61772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731520" y="54406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CF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Ishtirokchi xodim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34840" y="4343400"/>
            <a:ext cx="3429000" cy="1600200"/>
          </a:xfrm>
          <a:prstGeom prst="roundRect">
            <a:avLst>
              <a:gd name="adj" fmla="val 685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3FA7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461772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480560" y="54406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CF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Culture Score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83880" y="4343400"/>
            <a:ext cx="3429000" cy="1600200"/>
          </a:xfrm>
          <a:prstGeom prst="roundRect">
            <a:avLst>
              <a:gd name="adj" fmla="val 685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3FA7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461772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+6.7%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8229600" y="54406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CF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Umumiy o‘sish (Q1→Q2)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50" kern="0" dirty="0">
                <a:solidFill>
                  <a:srgbClr val="6F9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Doctor Group  ·  2025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2025 · CORPORATE CULTURE SURVEY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368735" y="384048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16A34A"/>
          </a:solidFill>
          <a:ln/>
        </p:spPr>
      </p:sp>
      <p:sp>
        <p:nvSpPr>
          <p:cNvPr id="4" name="Text 2"/>
          <p:cNvSpPr/>
          <p:nvPr/>
        </p:nvSpPr>
        <p:spPr>
          <a:xfrm>
            <a:off x="11368735" y="384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Ko‘proq ishtirokchilar. </a:t>
            </a:r>
            <a:pPr algn="l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Yaxshiroq sifatli fikr-mulohaza.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66928" y="1481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Ishtirok oshdi, ovoz sifati sezilarli darajada yaxshilandi.</a:t>
            </a:r>
            <a:endParaRPr lang="en-US" sz="1400" dirty="0"/>
          </a:p>
        </p:txBody>
      </p:sp>
      <p:pic>
        <p:nvPicPr>
          <p:cNvPr id="7" name="Image 0" descr="/tmp/pptx/icons/users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93392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200253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150" kern="0" dirty="0">
                <a:solidFill>
                  <a:srgbClr val="0E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ISHTIROK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450592"/>
            <a:ext cx="5486400" cy="969264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B8C7BE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679192"/>
            <a:ext cx="512064" cy="512064"/>
          </a:xfrm>
          <a:prstGeom prst="oval">
            <a:avLst/>
          </a:prstGeom>
          <a:solidFill>
            <a:srgbClr val="E7F6EC"/>
          </a:solidFill>
          <a:ln/>
        </p:spPr>
      </p:sp>
      <p:pic>
        <p:nvPicPr>
          <p:cNvPr id="11" name="Image 1" descr="/tmp/pptx/icons/users_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77977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259689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Ishtirok etgan xodimlar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463040" y="29992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85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337560" y="2496312"/>
            <a:ext cx="1463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400" dirty="0"/>
          </a:p>
        </p:txBody>
      </p:sp>
      <p:sp>
        <p:nvSpPr>
          <p:cNvPr id="15" name="Shape 11"/>
          <p:cNvSpPr/>
          <p:nvPr/>
        </p:nvSpPr>
        <p:spPr>
          <a:xfrm>
            <a:off x="5120640" y="2734056"/>
            <a:ext cx="822960" cy="402336"/>
          </a:xfrm>
          <a:prstGeom prst="roundRect">
            <a:avLst>
              <a:gd name="adj" fmla="val 50000"/>
            </a:avLst>
          </a:prstGeom>
          <a:solidFill>
            <a:srgbClr val="E7F6EC"/>
          </a:solidFill>
          <a:ln/>
        </p:spPr>
      </p:sp>
      <p:sp>
        <p:nvSpPr>
          <p:cNvPr id="16" name="Text 12"/>
          <p:cNvSpPr/>
          <p:nvPr/>
        </p:nvSpPr>
        <p:spPr>
          <a:xfrm>
            <a:off x="5120640" y="273405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</a:t>
            </a:r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E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48640" y="3584448"/>
            <a:ext cx="5486400" cy="969264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B8C7BE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77240" y="3813048"/>
            <a:ext cx="512064" cy="512064"/>
          </a:xfrm>
          <a:prstGeom prst="oval">
            <a:avLst/>
          </a:prstGeom>
          <a:solidFill>
            <a:srgbClr val="E7F6EC"/>
          </a:solidFill>
          <a:ln/>
        </p:spPr>
      </p:sp>
      <p:pic>
        <p:nvPicPr>
          <p:cNvPr id="19" name="Image 2" descr="/tmp/pptx/icons/users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913632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63040" y="37307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Ovoz berganlar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463040" y="41330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81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3337560" y="3630168"/>
            <a:ext cx="1463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  <a:endParaRPr lang="en-US" sz="2400" dirty="0"/>
          </a:p>
        </p:txBody>
      </p:sp>
      <p:sp>
        <p:nvSpPr>
          <p:cNvPr id="23" name="Shape 18"/>
          <p:cNvSpPr/>
          <p:nvPr/>
        </p:nvSpPr>
        <p:spPr>
          <a:xfrm>
            <a:off x="5120640" y="3867912"/>
            <a:ext cx="822960" cy="402336"/>
          </a:xfrm>
          <a:prstGeom prst="roundRect">
            <a:avLst>
              <a:gd name="adj" fmla="val 50000"/>
            </a:avLst>
          </a:prstGeom>
          <a:solidFill>
            <a:srgbClr val="E7F6EC"/>
          </a:solidFill>
          <a:ln/>
        </p:spPr>
      </p:sp>
      <p:sp>
        <p:nvSpPr>
          <p:cNvPr id="24" name="Text 19"/>
          <p:cNvSpPr/>
          <p:nvPr/>
        </p:nvSpPr>
        <p:spPr>
          <a:xfrm>
            <a:off x="5120640" y="386791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</a:t>
            </a:r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E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+21%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548640" y="4718304"/>
            <a:ext cx="5486400" cy="969264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B8C7BE">
                <a:alpha val="3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77240" y="4946904"/>
            <a:ext cx="512064" cy="512064"/>
          </a:xfrm>
          <a:prstGeom prst="oval">
            <a:avLst/>
          </a:prstGeom>
          <a:solidFill>
            <a:srgbClr val="E7F6EC"/>
          </a:solidFill>
          <a:ln/>
        </p:spPr>
      </p:sp>
      <p:pic>
        <p:nvPicPr>
          <p:cNvPr id="27" name="Image 3" descr="/tmp/pptx/icons/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5047488"/>
            <a:ext cx="292608" cy="29260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463040" y="48646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Jami ovozlar (skipsiz)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1463040" y="526694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4,322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3337560" y="4764024"/>
            <a:ext cx="1463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8,619</a:t>
            </a:r>
            <a:endParaRPr lang="en-US" sz="2400" dirty="0"/>
          </a:p>
        </p:txBody>
      </p:sp>
      <p:sp>
        <p:nvSpPr>
          <p:cNvPr id="31" name="Shape 25"/>
          <p:cNvSpPr/>
          <p:nvPr/>
        </p:nvSpPr>
        <p:spPr>
          <a:xfrm>
            <a:off x="5120640" y="5001768"/>
            <a:ext cx="822960" cy="402336"/>
          </a:xfrm>
          <a:prstGeom prst="roundRect">
            <a:avLst>
              <a:gd name="adj" fmla="val 50000"/>
            </a:avLst>
          </a:prstGeom>
          <a:solidFill>
            <a:srgbClr val="E7F6EC"/>
          </a:solidFill>
          <a:ln/>
        </p:spPr>
      </p:sp>
      <p:sp>
        <p:nvSpPr>
          <p:cNvPr id="32" name="Text 26"/>
          <p:cNvSpPr/>
          <p:nvPr/>
        </p:nvSpPr>
        <p:spPr>
          <a:xfrm>
            <a:off x="5120640" y="500176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</a:t>
            </a:r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E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+99%</a:t>
            </a:r>
            <a:endParaRPr lang="en-US" sz="1150" dirty="0"/>
          </a:p>
        </p:txBody>
      </p:sp>
      <p:pic>
        <p:nvPicPr>
          <p:cNvPr id="33" name="Image 4" descr="/tmp/pptx/icons/star_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1993392"/>
            <a:ext cx="292608" cy="29260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611112" y="200253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150" kern="0" dirty="0">
                <a:solidFill>
                  <a:srgbClr val="0E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OVOZ SIFATI</a:t>
            </a:r>
            <a:endParaRPr lang="en-US" sz="1400" dirty="0"/>
          </a:p>
        </p:txBody>
      </p:sp>
      <p:sp>
        <p:nvSpPr>
          <p:cNvPr id="35" name="Shape 28"/>
          <p:cNvSpPr/>
          <p:nvPr/>
        </p:nvSpPr>
        <p:spPr>
          <a:xfrm>
            <a:off x="6245352" y="2450592"/>
            <a:ext cx="548640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B8C7BE">
                <a:alpha val="35000"/>
              </a:srgbClr>
            </a:outerShdw>
          </a:effectLst>
        </p:spPr>
      </p:sp>
      <p:sp>
        <p:nvSpPr>
          <p:cNvPr id="36" name="Text 29"/>
          <p:cNvSpPr/>
          <p:nvPr/>
        </p:nvSpPr>
        <p:spPr>
          <a:xfrm>
            <a:off x="6556248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Vote Rate</a:t>
            </a:r>
            <a:endParaRPr lang="en-US" sz="1350" dirty="0"/>
          </a:p>
        </p:txBody>
      </p:sp>
      <p:sp>
        <p:nvSpPr>
          <p:cNvPr id="37" name="Text 30"/>
          <p:cNvSpPr/>
          <p:nvPr/>
        </p:nvSpPr>
        <p:spPr>
          <a:xfrm>
            <a:off x="6556248" y="30540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84.7%</a:t>
            </a:r>
            <a:endParaRPr lang="en-US" sz="1150" dirty="0"/>
          </a:p>
        </p:txBody>
      </p:sp>
      <p:sp>
        <p:nvSpPr>
          <p:cNvPr id="38" name="Text 31"/>
          <p:cNvSpPr/>
          <p:nvPr/>
        </p:nvSpPr>
        <p:spPr>
          <a:xfrm>
            <a:off x="8577072" y="2487168"/>
            <a:ext cx="18288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97.5%</a:t>
            </a:r>
            <a:endParaRPr lang="en-US" sz="3400" dirty="0"/>
          </a:p>
        </p:txBody>
      </p:sp>
      <p:sp>
        <p:nvSpPr>
          <p:cNvPr id="39" name="Shape 32"/>
          <p:cNvSpPr/>
          <p:nvPr/>
        </p:nvSpPr>
        <p:spPr>
          <a:xfrm>
            <a:off x="10890504" y="2779776"/>
            <a:ext cx="548640" cy="548640"/>
          </a:xfrm>
          <a:prstGeom prst="oval">
            <a:avLst/>
          </a:prstGeom>
          <a:solidFill>
            <a:srgbClr val="E7F6EC"/>
          </a:solidFill>
          <a:ln/>
        </p:spPr>
      </p:sp>
      <p:pic>
        <p:nvPicPr>
          <p:cNvPr id="40" name="Image 5" descr="/tmp/pptx/icons/up_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00232" y="2889504"/>
            <a:ext cx="329184" cy="329184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6245352" y="3822192"/>
            <a:ext cx="548640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B8C7BE">
                <a:alpha val="35000"/>
              </a:srgbClr>
            </a:outerShdw>
          </a:effectLst>
        </p:spPr>
      </p:sp>
      <p:sp>
        <p:nvSpPr>
          <p:cNvPr id="42" name="Text 34"/>
          <p:cNvSpPr/>
          <p:nvPr/>
        </p:nvSpPr>
        <p:spPr>
          <a:xfrm>
            <a:off x="6556248" y="4023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 Rate</a:t>
            </a:r>
            <a:endParaRPr lang="en-US" sz="1350" dirty="0"/>
          </a:p>
        </p:txBody>
      </p:sp>
      <p:sp>
        <p:nvSpPr>
          <p:cNvPr id="43" name="Text 35"/>
          <p:cNvSpPr/>
          <p:nvPr/>
        </p:nvSpPr>
        <p:spPr>
          <a:xfrm>
            <a:off x="6556248" y="44256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15.3%</a:t>
            </a:r>
            <a:endParaRPr lang="en-US" sz="1150" dirty="0"/>
          </a:p>
        </p:txBody>
      </p:sp>
      <p:sp>
        <p:nvSpPr>
          <p:cNvPr id="44" name="Text 36"/>
          <p:cNvSpPr/>
          <p:nvPr/>
        </p:nvSpPr>
        <p:spPr>
          <a:xfrm>
            <a:off x="8577072" y="3858768"/>
            <a:ext cx="18288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2.6%</a:t>
            </a:r>
            <a:endParaRPr lang="en-US" sz="3400" dirty="0"/>
          </a:p>
        </p:txBody>
      </p:sp>
      <p:sp>
        <p:nvSpPr>
          <p:cNvPr id="45" name="Shape 37"/>
          <p:cNvSpPr/>
          <p:nvPr/>
        </p:nvSpPr>
        <p:spPr>
          <a:xfrm>
            <a:off x="10890504" y="4151376"/>
            <a:ext cx="548640" cy="548640"/>
          </a:xfrm>
          <a:prstGeom prst="oval">
            <a:avLst/>
          </a:prstGeom>
          <a:solidFill>
            <a:srgbClr val="FBE9EA"/>
          </a:solidFill>
          <a:ln/>
        </p:spPr>
      </p:sp>
      <p:pic>
        <p:nvPicPr>
          <p:cNvPr id="46" name="Image 6" descr="/tmp/pptx/icons/down_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00232" y="4261104"/>
            <a:ext cx="329184" cy="329184"/>
          </a:xfrm>
          <a:prstGeom prst="rect">
            <a:avLst/>
          </a:prstGeom>
        </p:spPr>
      </p:pic>
      <p:sp>
        <p:nvSpPr>
          <p:cNvPr id="47" name="Shape 38"/>
          <p:cNvSpPr/>
          <p:nvPr/>
        </p:nvSpPr>
        <p:spPr>
          <a:xfrm>
            <a:off x="6245352" y="5193792"/>
            <a:ext cx="5486400" cy="530352"/>
          </a:xfrm>
          <a:prstGeom prst="roundRect">
            <a:avLst>
              <a:gd name="adj" fmla="val 17241"/>
            </a:avLst>
          </a:prstGeom>
          <a:solidFill>
            <a:srgbClr val="0E7A38"/>
          </a:solidFill>
          <a:ln/>
        </p:spPr>
      </p:sp>
      <p:sp>
        <p:nvSpPr>
          <p:cNvPr id="48" name="Text 39"/>
          <p:cNvSpPr/>
          <p:nvPr/>
        </p:nvSpPr>
        <p:spPr>
          <a:xfrm>
            <a:off x="6556248" y="5193792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15.3%  →  2.6%</a:t>
            </a:r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B7F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▼ 83% kamaydi</a:t>
            </a:r>
            <a:endParaRPr lang="en-US" sz="1450" dirty="0"/>
          </a:p>
        </p:txBody>
      </p:sp>
      <p:sp>
        <p:nvSpPr>
          <p:cNvPr id="49" name="Shape 40"/>
          <p:cNvSpPr/>
          <p:nvPr/>
        </p:nvSpPr>
        <p:spPr>
          <a:xfrm>
            <a:off x="548640" y="5943600"/>
            <a:ext cx="5486400" cy="502920"/>
          </a:xfrm>
          <a:prstGeom prst="roundRect">
            <a:avLst>
              <a:gd name="adj" fmla="val 16364"/>
            </a:avLst>
          </a:prstGeom>
          <a:solidFill>
            <a:srgbClr val="E7F6EC"/>
          </a:solidFill>
          <a:ln/>
        </p:spPr>
      </p:sp>
      <p:sp>
        <p:nvSpPr>
          <p:cNvPr id="50" name="Text 41"/>
          <p:cNvSpPr/>
          <p:nvPr/>
        </p:nvSpPr>
        <p:spPr>
          <a:xfrm>
            <a:off x="749808" y="59436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E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ta xodimdan 98 tasi ovoz berdi — ya‘ni 98% ishtirok darajasi.</a:t>
            </a:r>
            <a:endParaRPr lang="en-US" sz="1100" dirty="0"/>
          </a:p>
        </p:txBody>
      </p:sp>
      <p:sp>
        <p:nvSpPr>
          <p:cNvPr id="51" name="Shape 42"/>
          <p:cNvSpPr/>
          <p:nvPr/>
        </p:nvSpPr>
        <p:spPr>
          <a:xfrm>
            <a:off x="6245352" y="5943600"/>
            <a:ext cx="5486400" cy="502920"/>
          </a:xfrm>
          <a:prstGeom prst="roundRect">
            <a:avLst>
              <a:gd name="adj" fmla="val 16364"/>
            </a:avLst>
          </a:prstGeom>
          <a:solidFill>
            <a:srgbClr val="E7F6EC"/>
          </a:solidFill>
          <a:ln/>
        </p:spPr>
      </p:sp>
      <p:sp>
        <p:nvSpPr>
          <p:cNvPr id="52" name="Text 43"/>
          <p:cNvSpPr/>
          <p:nvPr/>
        </p:nvSpPr>
        <p:spPr>
          <a:xfrm>
            <a:off x="6446520" y="59436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E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Jami ovozlar 99% ga oshdi, decline rate esa 83% ga kamaydi.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2025 · CORPORATE CULTURE SURVEY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368735" y="384048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16A34A"/>
          </a:solidFill>
          <a:ln/>
        </p:spPr>
      </p:sp>
      <p:sp>
        <p:nvSpPr>
          <p:cNvPr id="4" name="Text 2"/>
          <p:cNvSpPr/>
          <p:nvPr/>
        </p:nvSpPr>
        <p:spPr>
          <a:xfrm>
            <a:off x="11368735" y="384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</a:t>
            </a:r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qadriyat</a:t>
            </a:r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bo‘yicha natijalar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66928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O‘rtacha ball (Q1 → Q2)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2606040" cy="36118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B8C7BE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48740" y="2103120"/>
            <a:ext cx="1005840" cy="1005840"/>
          </a:xfrm>
          <a:prstGeom prst="oval">
            <a:avLst/>
          </a:prstGeom>
          <a:solidFill>
            <a:srgbClr val="E7F6EC"/>
          </a:solidFill>
          <a:ln/>
        </p:spPr>
      </p:sp>
      <p:pic>
        <p:nvPicPr>
          <p:cNvPr id="9" name="Image 0" descr="/tmp/pptx/icons/h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9052" y="2313432"/>
            <a:ext cx="585216" cy="5852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3246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85800" y="37033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 </a:t>
            </a:r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32688" y="432511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316736" y="4343400"/>
            <a:ext cx="1453896" cy="137160"/>
          </a:xfrm>
          <a:prstGeom prst="roundRect">
            <a:avLst>
              <a:gd name="adj" fmla="val 50000"/>
            </a:avLst>
          </a:prstGeom>
          <a:solidFill>
            <a:srgbClr val="E3EAE5"/>
          </a:solidFill>
          <a:ln/>
        </p:spPr>
      </p:sp>
      <p:sp>
        <p:nvSpPr>
          <p:cNvPr id="14" name="Shape 11"/>
          <p:cNvSpPr/>
          <p:nvPr/>
        </p:nvSpPr>
        <p:spPr>
          <a:xfrm>
            <a:off x="1316736" y="4343400"/>
            <a:ext cx="1090422" cy="137160"/>
          </a:xfrm>
          <a:prstGeom prst="roundRect">
            <a:avLst>
              <a:gd name="adj" fmla="val 50000"/>
            </a:avLst>
          </a:prstGeom>
          <a:solidFill>
            <a:srgbClr val="C7D2CB"/>
          </a:solidFill>
          <a:ln/>
        </p:spPr>
      </p:sp>
      <p:sp>
        <p:nvSpPr>
          <p:cNvPr id="15" name="Text 12"/>
          <p:cNvSpPr/>
          <p:nvPr/>
        </p:nvSpPr>
        <p:spPr>
          <a:xfrm>
            <a:off x="932688" y="45994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316736" y="4617720"/>
            <a:ext cx="1453896" cy="137160"/>
          </a:xfrm>
          <a:prstGeom prst="roundRect">
            <a:avLst>
              <a:gd name="adj" fmla="val 50000"/>
            </a:avLst>
          </a:prstGeom>
          <a:solidFill>
            <a:srgbClr val="E3EAE5"/>
          </a:solidFill>
          <a:ln/>
        </p:spPr>
      </p:sp>
      <p:sp>
        <p:nvSpPr>
          <p:cNvPr id="17" name="Shape 14"/>
          <p:cNvSpPr/>
          <p:nvPr/>
        </p:nvSpPr>
        <p:spPr>
          <a:xfrm>
            <a:off x="1316736" y="4617720"/>
            <a:ext cx="1192195" cy="13716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18" name="Shape 15"/>
          <p:cNvSpPr/>
          <p:nvPr/>
        </p:nvSpPr>
        <p:spPr>
          <a:xfrm>
            <a:off x="845820" y="4956048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E7F6EC"/>
          </a:solidFill>
          <a:ln/>
        </p:spPr>
      </p:sp>
      <p:sp>
        <p:nvSpPr>
          <p:cNvPr id="19" name="Text 16"/>
          <p:cNvSpPr/>
          <p:nvPr/>
        </p:nvSpPr>
        <p:spPr>
          <a:xfrm>
            <a:off x="845820" y="49560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+0.7  </a:t>
            </a:r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(+9.3%)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438144" y="1828800"/>
            <a:ext cx="2606040" cy="36118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B8C7BE">
                <a:alpha val="3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238244" y="2103120"/>
            <a:ext cx="1005840" cy="1005840"/>
          </a:xfrm>
          <a:prstGeom prst="oval">
            <a:avLst/>
          </a:prstGeom>
          <a:solidFill>
            <a:srgbClr val="FBEFD6"/>
          </a:solidFill>
          <a:ln/>
        </p:spPr>
      </p:sp>
      <p:pic>
        <p:nvPicPr>
          <p:cNvPr id="22" name="Image 1" descr="/tmp/pptx/icons/ch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556" y="2313432"/>
            <a:ext cx="585216" cy="58521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575304" y="3246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3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3575304" y="37033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  </a:t>
            </a:r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E3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</a:t>
            </a:r>
            <a:endParaRPr lang="en-US" sz="2200" dirty="0"/>
          </a:p>
        </p:txBody>
      </p:sp>
      <p:sp>
        <p:nvSpPr>
          <p:cNvPr id="25" name="Text 21"/>
          <p:cNvSpPr/>
          <p:nvPr/>
        </p:nvSpPr>
        <p:spPr>
          <a:xfrm>
            <a:off x="3822192" y="432511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4206240" y="4343400"/>
            <a:ext cx="1453896" cy="137160"/>
          </a:xfrm>
          <a:prstGeom prst="roundRect">
            <a:avLst>
              <a:gd name="adj" fmla="val 50000"/>
            </a:avLst>
          </a:prstGeom>
          <a:solidFill>
            <a:srgbClr val="E3EAE5"/>
          </a:solidFill>
          <a:ln/>
        </p:spPr>
      </p:sp>
      <p:sp>
        <p:nvSpPr>
          <p:cNvPr id="27" name="Shape 23"/>
          <p:cNvSpPr/>
          <p:nvPr/>
        </p:nvSpPr>
        <p:spPr>
          <a:xfrm>
            <a:off x="4206240" y="4343400"/>
            <a:ext cx="1134039" cy="137160"/>
          </a:xfrm>
          <a:prstGeom prst="roundRect">
            <a:avLst>
              <a:gd name="adj" fmla="val 50000"/>
            </a:avLst>
          </a:prstGeom>
          <a:solidFill>
            <a:srgbClr val="C7D2CB"/>
          </a:solidFill>
          <a:ln/>
        </p:spPr>
      </p:sp>
      <p:sp>
        <p:nvSpPr>
          <p:cNvPr id="28" name="Text 24"/>
          <p:cNvSpPr/>
          <p:nvPr/>
        </p:nvSpPr>
        <p:spPr>
          <a:xfrm>
            <a:off x="3822192" y="45994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4206240" y="4617720"/>
            <a:ext cx="1453896" cy="137160"/>
          </a:xfrm>
          <a:prstGeom prst="roundRect">
            <a:avLst>
              <a:gd name="adj" fmla="val 50000"/>
            </a:avLst>
          </a:prstGeom>
          <a:solidFill>
            <a:srgbClr val="E3EAE5"/>
          </a:solidFill>
          <a:ln/>
        </p:spPr>
      </p:sp>
      <p:sp>
        <p:nvSpPr>
          <p:cNvPr id="30" name="Shape 26"/>
          <p:cNvSpPr/>
          <p:nvPr/>
        </p:nvSpPr>
        <p:spPr>
          <a:xfrm>
            <a:off x="4206240" y="4617720"/>
            <a:ext cx="1148578" cy="137160"/>
          </a:xfrm>
          <a:prstGeom prst="roundRect">
            <a:avLst>
              <a:gd name="adj" fmla="val 50000"/>
            </a:avLst>
          </a:prstGeom>
          <a:solidFill>
            <a:srgbClr val="E3A02A"/>
          </a:solidFill>
          <a:ln/>
        </p:spPr>
      </p:sp>
      <p:sp>
        <p:nvSpPr>
          <p:cNvPr id="31" name="Shape 27"/>
          <p:cNvSpPr/>
          <p:nvPr/>
        </p:nvSpPr>
        <p:spPr>
          <a:xfrm>
            <a:off x="3735324" y="4956048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E7F6EC"/>
          </a:solidFill>
          <a:ln/>
        </p:spPr>
      </p:sp>
      <p:sp>
        <p:nvSpPr>
          <p:cNvPr id="32" name="Text 28"/>
          <p:cNvSpPr/>
          <p:nvPr/>
        </p:nvSpPr>
        <p:spPr>
          <a:xfrm>
            <a:off x="3735324" y="49560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+0.1  </a:t>
            </a:r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(+1.3%)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6327648" y="1828800"/>
            <a:ext cx="2606040" cy="36118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B8C7BE">
                <a:alpha val="35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7127748" y="2103120"/>
            <a:ext cx="1005840" cy="1005840"/>
          </a:xfrm>
          <a:prstGeom prst="oval">
            <a:avLst/>
          </a:prstGeom>
          <a:solidFill>
            <a:srgbClr val="E4EFF9"/>
          </a:solidFill>
          <a:ln/>
        </p:spPr>
      </p:sp>
      <p:pic>
        <p:nvPicPr>
          <p:cNvPr id="35" name="Image 2" descr="/tmp/pptx/icons/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060" y="2313432"/>
            <a:ext cx="585216" cy="585216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464808" y="3246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F8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</a:t>
            </a:r>
            <a:endParaRPr lang="en-US" sz="1600" dirty="0"/>
          </a:p>
        </p:txBody>
      </p:sp>
      <p:sp>
        <p:nvSpPr>
          <p:cNvPr id="37" name="Text 32"/>
          <p:cNvSpPr/>
          <p:nvPr/>
        </p:nvSpPr>
        <p:spPr>
          <a:xfrm>
            <a:off x="6464808" y="37033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  </a:t>
            </a:r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F8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</a:t>
            </a:r>
            <a:endParaRPr lang="en-US" sz="2200" dirty="0"/>
          </a:p>
        </p:txBody>
      </p:sp>
      <p:sp>
        <p:nvSpPr>
          <p:cNvPr id="38" name="Text 33"/>
          <p:cNvSpPr/>
          <p:nvPr/>
        </p:nvSpPr>
        <p:spPr>
          <a:xfrm>
            <a:off x="6711696" y="432511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7095744" y="4343400"/>
            <a:ext cx="1453896" cy="137160"/>
          </a:xfrm>
          <a:prstGeom prst="roundRect">
            <a:avLst>
              <a:gd name="adj" fmla="val 50000"/>
            </a:avLst>
          </a:prstGeom>
          <a:solidFill>
            <a:srgbClr val="E3EAE5"/>
          </a:solidFill>
          <a:ln/>
        </p:spPr>
      </p:sp>
      <p:sp>
        <p:nvSpPr>
          <p:cNvPr id="40" name="Shape 35"/>
          <p:cNvSpPr/>
          <p:nvPr/>
        </p:nvSpPr>
        <p:spPr>
          <a:xfrm>
            <a:off x="7095744" y="4343400"/>
            <a:ext cx="1046805" cy="137160"/>
          </a:xfrm>
          <a:prstGeom prst="roundRect">
            <a:avLst>
              <a:gd name="adj" fmla="val 50000"/>
            </a:avLst>
          </a:prstGeom>
          <a:solidFill>
            <a:srgbClr val="C7D2CB"/>
          </a:solidFill>
          <a:ln/>
        </p:spPr>
      </p:sp>
      <p:sp>
        <p:nvSpPr>
          <p:cNvPr id="41" name="Text 36"/>
          <p:cNvSpPr/>
          <p:nvPr/>
        </p:nvSpPr>
        <p:spPr>
          <a:xfrm>
            <a:off x="6711696" y="45994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00" dirty="0"/>
          </a:p>
        </p:txBody>
      </p:sp>
      <p:sp>
        <p:nvSpPr>
          <p:cNvPr id="42" name="Shape 37"/>
          <p:cNvSpPr/>
          <p:nvPr/>
        </p:nvSpPr>
        <p:spPr>
          <a:xfrm>
            <a:off x="7095744" y="4617720"/>
            <a:ext cx="1453896" cy="137160"/>
          </a:xfrm>
          <a:prstGeom prst="roundRect">
            <a:avLst>
              <a:gd name="adj" fmla="val 50000"/>
            </a:avLst>
          </a:prstGeom>
          <a:solidFill>
            <a:srgbClr val="E3EAE5"/>
          </a:solidFill>
          <a:ln/>
        </p:spPr>
      </p:sp>
      <p:sp>
        <p:nvSpPr>
          <p:cNvPr id="43" name="Shape 38"/>
          <p:cNvSpPr/>
          <p:nvPr/>
        </p:nvSpPr>
        <p:spPr>
          <a:xfrm>
            <a:off x="7095744" y="4617720"/>
            <a:ext cx="1134039" cy="137160"/>
          </a:xfrm>
          <a:prstGeom prst="roundRect">
            <a:avLst>
              <a:gd name="adj" fmla="val 50000"/>
            </a:avLst>
          </a:prstGeom>
          <a:solidFill>
            <a:srgbClr val="2F80C4"/>
          </a:solidFill>
          <a:ln/>
        </p:spPr>
      </p:sp>
      <p:sp>
        <p:nvSpPr>
          <p:cNvPr id="44" name="Shape 39"/>
          <p:cNvSpPr/>
          <p:nvPr/>
        </p:nvSpPr>
        <p:spPr>
          <a:xfrm>
            <a:off x="6624828" y="4956048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E7F6EC"/>
          </a:solidFill>
          <a:ln/>
        </p:spPr>
      </p:sp>
      <p:sp>
        <p:nvSpPr>
          <p:cNvPr id="45" name="Text 40"/>
          <p:cNvSpPr/>
          <p:nvPr/>
        </p:nvSpPr>
        <p:spPr>
          <a:xfrm>
            <a:off x="6624828" y="49560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+0.6  </a:t>
            </a:r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(+8.3%)</a:t>
            </a:r>
            <a:endParaRPr lang="en-US" sz="1200" dirty="0"/>
          </a:p>
        </p:txBody>
      </p:sp>
      <p:sp>
        <p:nvSpPr>
          <p:cNvPr id="46" name="Shape 41"/>
          <p:cNvSpPr/>
          <p:nvPr/>
        </p:nvSpPr>
        <p:spPr>
          <a:xfrm>
            <a:off x="9217152" y="1828800"/>
            <a:ext cx="2606040" cy="36118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B8C7BE">
                <a:alpha val="35000"/>
              </a:srgbClr>
            </a:outerShdw>
          </a:effectLst>
        </p:spPr>
      </p:sp>
      <p:sp>
        <p:nvSpPr>
          <p:cNvPr id="47" name="Shape 42"/>
          <p:cNvSpPr/>
          <p:nvPr/>
        </p:nvSpPr>
        <p:spPr>
          <a:xfrm>
            <a:off x="10017252" y="2103120"/>
            <a:ext cx="1005840" cy="1005840"/>
          </a:xfrm>
          <a:prstGeom prst="oval">
            <a:avLst/>
          </a:prstGeom>
          <a:solidFill>
            <a:srgbClr val="EFEBFA"/>
          </a:solidFill>
          <a:ln/>
        </p:spPr>
      </p:sp>
      <p:pic>
        <p:nvPicPr>
          <p:cNvPr id="48" name="Image 3" descr="/tmp/pptx/icons/peo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7564" y="2313432"/>
            <a:ext cx="585216" cy="585216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9354312" y="3246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8B7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</a:t>
            </a:r>
            <a:endParaRPr lang="en-US" sz="1600" dirty="0"/>
          </a:p>
        </p:txBody>
      </p:sp>
      <p:sp>
        <p:nvSpPr>
          <p:cNvPr id="50" name="Text 44"/>
          <p:cNvSpPr/>
          <p:nvPr/>
        </p:nvSpPr>
        <p:spPr>
          <a:xfrm>
            <a:off x="9354312" y="37033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  </a:t>
            </a:r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8B7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</a:t>
            </a:r>
            <a:endParaRPr lang="en-US" sz="2200" dirty="0"/>
          </a:p>
        </p:txBody>
      </p:sp>
      <p:sp>
        <p:nvSpPr>
          <p:cNvPr id="51" name="Text 45"/>
          <p:cNvSpPr/>
          <p:nvPr/>
        </p:nvSpPr>
        <p:spPr>
          <a:xfrm>
            <a:off x="9601200" y="432511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900" dirty="0"/>
          </a:p>
        </p:txBody>
      </p:sp>
      <p:sp>
        <p:nvSpPr>
          <p:cNvPr id="52" name="Shape 46"/>
          <p:cNvSpPr/>
          <p:nvPr/>
        </p:nvSpPr>
        <p:spPr>
          <a:xfrm>
            <a:off x="9985248" y="4343400"/>
            <a:ext cx="1453896" cy="137160"/>
          </a:xfrm>
          <a:prstGeom prst="roundRect">
            <a:avLst>
              <a:gd name="adj" fmla="val 50000"/>
            </a:avLst>
          </a:prstGeom>
          <a:solidFill>
            <a:srgbClr val="E3EAE5"/>
          </a:solidFill>
          <a:ln/>
        </p:spPr>
      </p:sp>
      <p:sp>
        <p:nvSpPr>
          <p:cNvPr id="53" name="Shape 47"/>
          <p:cNvSpPr/>
          <p:nvPr/>
        </p:nvSpPr>
        <p:spPr>
          <a:xfrm>
            <a:off x="9985248" y="4343400"/>
            <a:ext cx="1192195" cy="137160"/>
          </a:xfrm>
          <a:prstGeom prst="roundRect">
            <a:avLst>
              <a:gd name="adj" fmla="val 50000"/>
            </a:avLst>
          </a:prstGeom>
          <a:solidFill>
            <a:srgbClr val="C7D2CB"/>
          </a:solidFill>
          <a:ln/>
        </p:spPr>
      </p:sp>
      <p:sp>
        <p:nvSpPr>
          <p:cNvPr id="54" name="Text 48"/>
          <p:cNvSpPr/>
          <p:nvPr/>
        </p:nvSpPr>
        <p:spPr>
          <a:xfrm>
            <a:off x="9601200" y="45994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00" dirty="0"/>
          </a:p>
        </p:txBody>
      </p:sp>
      <p:sp>
        <p:nvSpPr>
          <p:cNvPr id="55" name="Shape 49"/>
          <p:cNvSpPr/>
          <p:nvPr/>
        </p:nvSpPr>
        <p:spPr>
          <a:xfrm>
            <a:off x="9985248" y="4617720"/>
            <a:ext cx="1453896" cy="137160"/>
          </a:xfrm>
          <a:prstGeom prst="roundRect">
            <a:avLst>
              <a:gd name="adj" fmla="val 50000"/>
            </a:avLst>
          </a:prstGeom>
          <a:solidFill>
            <a:srgbClr val="E3EAE5"/>
          </a:solidFill>
          <a:ln/>
        </p:spPr>
      </p:sp>
      <p:sp>
        <p:nvSpPr>
          <p:cNvPr id="56" name="Shape 50"/>
          <p:cNvSpPr/>
          <p:nvPr/>
        </p:nvSpPr>
        <p:spPr>
          <a:xfrm>
            <a:off x="9985248" y="4617720"/>
            <a:ext cx="1163117" cy="137160"/>
          </a:xfrm>
          <a:prstGeom prst="roundRect">
            <a:avLst>
              <a:gd name="adj" fmla="val 50000"/>
            </a:avLst>
          </a:prstGeom>
          <a:solidFill>
            <a:srgbClr val="8B7BD8"/>
          </a:solidFill>
          <a:ln/>
        </p:spPr>
      </p:sp>
      <p:sp>
        <p:nvSpPr>
          <p:cNvPr id="57" name="Shape 51"/>
          <p:cNvSpPr/>
          <p:nvPr/>
        </p:nvSpPr>
        <p:spPr>
          <a:xfrm>
            <a:off x="9514332" y="4956048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FBE9EA"/>
          </a:solidFill>
          <a:ln/>
        </p:spPr>
      </p:sp>
      <p:sp>
        <p:nvSpPr>
          <p:cNvPr id="58" name="Text 52"/>
          <p:cNvSpPr/>
          <p:nvPr/>
        </p:nvSpPr>
        <p:spPr>
          <a:xfrm>
            <a:off x="9514332" y="49560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-0.2  </a:t>
            </a:r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(-2.4%)</a:t>
            </a:r>
            <a:endParaRPr lang="en-US" sz="1200" dirty="0"/>
          </a:p>
        </p:txBody>
      </p:sp>
      <p:sp>
        <p:nvSpPr>
          <p:cNvPr id="59" name="Shape 53"/>
          <p:cNvSpPr/>
          <p:nvPr/>
        </p:nvSpPr>
        <p:spPr>
          <a:xfrm>
            <a:off x="548640" y="5806440"/>
            <a:ext cx="11091672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DE6E0"/>
            </a:solidFill>
            <a:prstDash val="solid"/>
          </a:ln>
        </p:spPr>
      </p:sp>
      <p:pic>
        <p:nvPicPr>
          <p:cNvPr id="60" name="Image 4" descr="/tmp/pptx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980176"/>
            <a:ext cx="310896" cy="310896"/>
          </a:xfrm>
          <a:prstGeom prst="rect">
            <a:avLst/>
          </a:prstGeom>
        </p:spPr>
      </p:pic>
      <p:sp>
        <p:nvSpPr>
          <p:cNvPr id="61" name="Text 54"/>
          <p:cNvSpPr/>
          <p:nvPr/>
        </p:nvSpPr>
        <p:spPr>
          <a:xfrm>
            <a:off x="1280160" y="580644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</a:t>
            </a:r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 </a:t>
            </a:r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8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</a:t>
            </a:r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bo‘yicha sezilarli ijobiy o‘sish. </a:t>
            </a:r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3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 </a:t>
            </a:r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8B7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</a:t>
            </a:r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barqaror darajada qoldi.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2025 · CORPORATE CULTURE SURVEY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368735" y="384048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16A34A"/>
          </a:solidFill>
          <a:ln/>
        </p:spPr>
      </p:sp>
      <p:sp>
        <p:nvSpPr>
          <p:cNvPr id="4" name="Text 2"/>
          <p:cNvSpPr/>
          <p:nvPr/>
        </p:nvSpPr>
        <p:spPr>
          <a:xfrm>
            <a:off x="11368735" y="384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Yakuniy natija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536192"/>
            <a:ext cx="4297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Ishtirokning oshishi va ovoz sifatining yaxshilanishi umumiy Corporate Culture Score o‘sishiga olib keldi.</a:t>
            </a:r>
            <a:endParaRPr lang="en-US" sz="1500" dirty="0"/>
          </a:p>
        </p:txBody>
      </p:sp>
      <p:pic>
        <p:nvPicPr>
          <p:cNvPr id="7" name="Image 0" descr="/tmp/pptx/icons/confett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280160"/>
            <a:ext cx="4572000" cy="4023360"/>
          </a:xfrm>
          <a:prstGeom prst="rect">
            <a:avLst/>
          </a:prstGeom>
        </p:spPr>
      </p:pic>
      <p:pic>
        <p:nvPicPr>
          <p:cNvPr id="8" name="Image 1" descr="/tmp/pptx/icons/r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920240"/>
            <a:ext cx="2743200" cy="274320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9DB3A6">
                <a:alpha val="40000"/>
              </a:srgbClr>
            </a:outerShdw>
          </a:effectLst>
        </p:spPr>
      </p:pic>
      <p:sp>
        <p:nvSpPr>
          <p:cNvPr id="9" name="Text 5"/>
          <p:cNvSpPr/>
          <p:nvPr/>
        </p:nvSpPr>
        <p:spPr>
          <a:xfrm>
            <a:off x="4892040" y="2359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Culture Score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892040" y="2578608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0E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</a:t>
            </a:r>
            <a:endParaRPr lang="en-US" sz="6000" dirty="0"/>
          </a:p>
        </p:txBody>
      </p:sp>
      <p:sp>
        <p:nvSpPr>
          <p:cNvPr id="11" name="Text 7"/>
          <p:cNvSpPr/>
          <p:nvPr/>
        </p:nvSpPr>
        <p:spPr>
          <a:xfrm>
            <a:off x="4892040" y="37307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3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C9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☆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89204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Ajoyib natija!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9052560" y="1965960"/>
            <a:ext cx="2587752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B8C7BE">
                <a:alpha val="3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9052560" y="2240280"/>
            <a:ext cx="2587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→  Q2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9052560" y="2697480"/>
            <a:ext cx="2587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 </a:t>
            </a:r>
            <a:pPr algn="ctr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ctr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0E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</a:t>
            </a:r>
            <a:endParaRPr lang="en-US" sz="3400" dirty="0"/>
          </a:p>
        </p:txBody>
      </p:sp>
      <p:sp>
        <p:nvSpPr>
          <p:cNvPr id="16" name="Shape 12"/>
          <p:cNvSpPr/>
          <p:nvPr/>
        </p:nvSpPr>
        <p:spPr>
          <a:xfrm>
            <a:off x="9418320" y="3611880"/>
            <a:ext cx="1856232" cy="566928"/>
          </a:xfrm>
          <a:prstGeom prst="roundRect">
            <a:avLst>
              <a:gd name="adj" fmla="val 22581"/>
            </a:avLst>
          </a:prstGeom>
          <a:solidFill>
            <a:srgbClr val="E7F6EC"/>
          </a:solidFill>
          <a:ln/>
        </p:spPr>
      </p:sp>
      <p:sp>
        <p:nvSpPr>
          <p:cNvPr id="17" name="Text 13"/>
          <p:cNvSpPr/>
          <p:nvPr/>
        </p:nvSpPr>
        <p:spPr>
          <a:xfrm>
            <a:off x="9418320" y="3611880"/>
            <a:ext cx="1856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E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+0.5  </a:t>
            </a:r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(+6.7%)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548640" y="5074920"/>
            <a:ext cx="3630168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B8C7BE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04672" y="5381244"/>
            <a:ext cx="621792" cy="621792"/>
          </a:xfrm>
          <a:prstGeom prst="oval">
            <a:avLst/>
          </a:prstGeom>
          <a:solidFill>
            <a:srgbClr val="E7F6EC"/>
          </a:solidFill>
          <a:ln/>
        </p:spPr>
      </p:sp>
      <p:pic>
        <p:nvPicPr>
          <p:cNvPr id="20" name="Image 2" descr="/tmp/pptx/icons/users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550926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00200" y="5276088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Ko‘proq ishtirokchilar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1600200" y="5696712"/>
            <a:ext cx="244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ta xodimdan 98 tasi qatnashdi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398264" y="5074920"/>
            <a:ext cx="3630168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B8C7BE">
                <a:alpha val="3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654296" y="5381244"/>
            <a:ext cx="621792" cy="621792"/>
          </a:xfrm>
          <a:prstGeom prst="oval">
            <a:avLst/>
          </a:prstGeom>
          <a:solidFill>
            <a:srgbClr val="E7F6EC"/>
          </a:solidFill>
          <a:ln/>
        </p:spPr>
      </p:sp>
      <p:pic>
        <p:nvPicPr>
          <p:cNvPr id="25" name="Image 3" descr="/tmp/pptx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550926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449824" y="5276088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Yaxshiroq sifatli fikr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5449824" y="5696712"/>
            <a:ext cx="244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 rate 15.3% → 2.6% ga tushdi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8247888" y="5074920"/>
            <a:ext cx="3630168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B8C7BE">
                <a:alpha val="3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8503920" y="5381244"/>
            <a:ext cx="621792" cy="621792"/>
          </a:xfrm>
          <a:prstGeom prst="oval">
            <a:avLst/>
          </a:prstGeom>
          <a:solidFill>
            <a:srgbClr val="E7F6EC"/>
          </a:solidFill>
          <a:ln/>
        </p:spPr>
      </p:sp>
      <p:pic>
        <p:nvPicPr>
          <p:cNvPr id="30" name="Image 4" descr="/tmp/pptx/icons/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1936" y="5509260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299448" y="5276088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Umumiy o‘sish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9299448" y="5696712"/>
            <a:ext cx="244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Culture Score 7.5 → 8.0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2025 · CORPORATE CULTURE SURVEY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368735" y="384048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16A34A"/>
          </a:solidFill>
          <a:ln/>
        </p:spPr>
      </p:sp>
      <p:sp>
        <p:nvSpPr>
          <p:cNvPr id="4" name="Text 2"/>
          <p:cNvSpPr/>
          <p:nvPr/>
        </p:nvSpPr>
        <p:spPr>
          <a:xfrm>
            <a:off x="11368735" y="384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pic>
        <p:nvPicPr>
          <p:cNvPr id="5" name="Image 0" descr="/tmp/pptx/icons/cr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1323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676656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Rated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66928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yuqori natija ko‘rsatgan 10 nafar xodim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4415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783080"/>
                <a:gridCol w="2514600"/>
                <a:gridCol w="1051560"/>
                <a:gridCol w="1170432"/>
                <a:gridCol w="1005840"/>
                <a:gridCol w="1051560"/>
                <a:gridCol w="96012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Bo‘lim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Ism familiya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Baholovchi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Yodgorova Nodira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Care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Xayitbayeva Madina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Rahimov Abubakir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Shadiyev Jasur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Care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Nuriddinov Suhrob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Care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Sultanbayev Izzat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Tojiyev Ikrom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Shukurillayev Oybek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Care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Bahtiyorova Intizor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Sobirov Bilol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914400" y="6144768"/>
            <a:ext cx="10362895" cy="512064"/>
          </a:xfrm>
          <a:prstGeom prst="roundRect">
            <a:avLst>
              <a:gd name="adj" fmla="val 17857"/>
            </a:avLst>
          </a:prstGeom>
          <a:solidFill>
            <a:srgbClr val="0E7A38"/>
          </a:solidFill>
          <a:ln/>
        </p:spPr>
      </p:sp>
      <p:pic>
        <p:nvPicPr>
          <p:cNvPr id="10" name="Image 1" descr="/tmp/pptx/icons/star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626364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54480" y="6144768"/>
            <a:ext cx="9875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Barchangizga katta rahmat! Sizlarning hissangiz tufayli biz yanada kuchli jamoaga aylanyapmiz.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2026-07-17T07:15:35Z</dcterms:created>
  <dcterms:modified xsi:type="dcterms:W3CDTF">2026-07-17T07:15:35Z</dcterms:modified>
</cp:coreProperties>
</file>